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first step to “put walls around” the app so future specs/plans/code stay within agreed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Constitution is kept as “memory” for the coding agent to reference on every future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Testing was deliberately reduced here because this is a tutorial “throwaway app” and TDD prompts can add time. For production, you’d likely specify a real testing policy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“Arguments” is the mechanism that passes what you typed after /constitution into the prompt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win: the Constitution doesn’t just get filled in—it can propagate policy changes into other templates so future generated specs stay consistent.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the workflow: Constitution first → templates align → then start generating specs for features under these constraints.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0080" y="1234440"/>
            <a:ext cx="10911535" cy="3108960"/>
          </a:xfrm>
          <a:prstGeom prst="roundRect">
            <a:avLst/>
          </a:prstGeom>
          <a:solidFill>
            <a:srgbClr val="0A0F24">
              <a:alpha val="80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88720" y="1508760"/>
            <a:ext cx="98142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Spec-Driven Development: The Constitution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188720" y="2514600"/>
            <a:ext cx="98142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Speckit workflow in Copilot Chat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188720" y="3063240"/>
            <a:ext cx="36576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88720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88720" y="3611880"/>
            <a:ext cx="981425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Update the Constitution file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Understand why it matters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/constitution for speed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See what happens under the hood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Review outputs &amp; commit changes</a:t>
            </a:r>
            <a:endParaRPr lang="en-US" sz="2000" dirty="0"/>
          </a:p>
        </p:txBody>
      </p:sp>
      <p:pic>
        <p:nvPicPr>
          <p:cNvPr id="10" name="Image 1" descr="/mnt/data/Code-with-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415" y="5308057"/>
            <a:ext cx="1920240" cy="10470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1/7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011680" y="6510528"/>
            <a:ext cx="8534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Code With • Hands-On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0080" y="320040"/>
            <a:ext cx="10911535" cy="868680"/>
          </a:xfrm>
          <a:prstGeom prst="rect">
            <a:avLst/>
          </a:prstGeom>
          <a:solidFill>
            <a:srgbClr val="0A0F24">
              <a:alpha val="65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0120" y="438912"/>
            <a:ext cx="102714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Kickoff: Start the Spec-Driven Development Cycle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10911535" cy="4754880"/>
          </a:xfrm>
          <a:prstGeom prst="roundRect">
            <a:avLst/>
          </a:prstGeom>
          <a:solidFill>
            <a:srgbClr val="0A0F24">
              <a:alpha val="75000"/>
            </a:srgbClr>
          </a:solidFill>
          <a:ln w="12700">
            <a:solidFill>
              <a:srgbClr val="B400FF">
                <a:alpha val="2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1600200"/>
            <a:ext cx="1008857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Speckit is now set up inside the project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Next step: begin spec-driven development by updating the Constitution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Key file location: .specify/memory/constitution.md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Goal: establish “non-negotiable” project principles the coding agent must follow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051560" y="5623560"/>
            <a:ext cx="10088575" cy="457200"/>
          </a:xfrm>
          <a:prstGeom prst="round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E5FF">
                <a:alpha val="6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80160" y="573328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File:  .specify/memory/constitution.md</a:t>
            </a:r>
            <a:endParaRPr lang="en-US" sz="1500" dirty="0"/>
          </a:p>
        </p:txBody>
      </p:sp>
      <p:pic>
        <p:nvPicPr>
          <p:cNvPr id="10" name="Image 1" descr="/mnt/data/Code-with-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078457"/>
            <a:ext cx="960120" cy="52351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2/7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011680" y="6510528"/>
            <a:ext cx="8534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Code With • Hands-On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0080" y="320040"/>
            <a:ext cx="10911535" cy="868680"/>
          </a:xfrm>
          <a:prstGeom prst="rect">
            <a:avLst/>
          </a:prstGeom>
          <a:solidFill>
            <a:srgbClr val="0A0F24">
              <a:alpha val="65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0120" y="438912"/>
            <a:ext cx="102714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“Constitution” Is (and Why It Matters)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10911535" cy="4754880"/>
          </a:xfrm>
          <a:prstGeom prst="roundRect">
            <a:avLst/>
          </a:prstGeom>
          <a:solidFill>
            <a:srgbClr val="0A0F24">
              <a:alpha val="75000"/>
            </a:srgbClr>
          </a:solidFill>
          <a:ln w="12700">
            <a:solidFill>
              <a:srgbClr val="B400FF">
                <a:alpha val="2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1600200"/>
            <a:ext cx="1008857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Markdown file that defines governing principles for the project/org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These principles should trump all other guidance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Examples of principles you might include: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Accessibility-first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Required frameworks/libraries (e.g., Next.js, Drizzle ORM)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UX must remain clean/simple/clear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Testing requirements (e.g., “unit test every component”)</a:t>
            </a:r>
            <a:endParaRPr lang="en-US" sz="2000" dirty="0"/>
          </a:p>
        </p:txBody>
      </p:sp>
      <p:pic>
        <p:nvPicPr>
          <p:cNvPr id="8" name="Image 1" descr="/mnt/data/Code-with-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078457"/>
            <a:ext cx="960120" cy="52351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3/7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011680" y="6510528"/>
            <a:ext cx="8534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Code With • Hands-On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0080" y="320040"/>
            <a:ext cx="10911535" cy="868680"/>
          </a:xfrm>
          <a:prstGeom prst="rect">
            <a:avLst/>
          </a:prstGeom>
          <a:solidFill>
            <a:srgbClr val="0A0F24">
              <a:alpha val="65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0120" y="438912"/>
            <a:ext cx="102714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 Path: Use the /constitution Command (Instead of Editing Manually)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10911535" cy="4754880"/>
          </a:xfrm>
          <a:prstGeom prst="roundRect">
            <a:avLst/>
          </a:prstGeom>
          <a:solidFill>
            <a:srgbClr val="0A0F24">
              <a:alpha val="75000"/>
            </a:srgbClr>
          </a:solidFill>
          <a:ln w="12700">
            <a:solidFill>
              <a:srgbClr val="B400FF">
                <a:alpha val="2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1600200"/>
            <a:ext cx="1008857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Option A: manually edit constitution.md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Option B (used here): run the Speckit command in Copilot Chat: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/constitution + your principle text (the “arguments”)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Example principles provided in the transcript: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Clean code, simple UX, responsive design, minimal dependencies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No testing at all (no unit/integration/e2e) as a non-negotiable rule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Must use Next.js / React / Tailwind versions per package.json (can attach as context)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051560" y="5623560"/>
            <a:ext cx="10088575" cy="457200"/>
          </a:xfrm>
          <a:prstGeom prst="round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E5FF">
                <a:alpha val="6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80160" y="573328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Command:  /constitution &lt;principles…&gt;</a:t>
            </a:r>
            <a:endParaRPr lang="en-US" sz="1500" dirty="0"/>
          </a:p>
        </p:txBody>
      </p:sp>
      <p:pic>
        <p:nvPicPr>
          <p:cNvPr id="10" name="Image 1" descr="/mnt/data/Code-with-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078457"/>
            <a:ext cx="960120" cy="52351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4/7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011680" y="6510528"/>
            <a:ext cx="8534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Code With • Hands-On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0080" y="320040"/>
            <a:ext cx="10911535" cy="868680"/>
          </a:xfrm>
          <a:prstGeom prst="rect">
            <a:avLst/>
          </a:prstGeom>
          <a:solidFill>
            <a:srgbClr val="0A0F24">
              <a:alpha val="65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0120" y="438912"/>
            <a:ext cx="102714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Happens Under the Hood: The Constitution Prompt + Placeholders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10911535" cy="4754880"/>
          </a:xfrm>
          <a:prstGeom prst="roundRect">
            <a:avLst/>
          </a:prstGeom>
          <a:solidFill>
            <a:srgbClr val="0A0F24">
              <a:alpha val="75000"/>
            </a:srgbClr>
          </a:solidFill>
          <a:ln w="12700">
            <a:solidFill>
              <a:srgbClr val="B400FF">
                <a:alpha val="2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1600200"/>
            <a:ext cx="1008857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Running /constitution triggers a custom “Constitution” prompt (stored in the repo’s GitHub prompt folder)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prompt: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Reads user input as arguments (text after the command)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Updates the Constitution file in the memory folder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Replaces placeholder tokens in square brackets with values derived from your input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May update other spec template files to keep everything aligned with the Constitution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Includes steps for validation + the expected completion feedback in chat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051560" y="5623560"/>
            <a:ext cx="10088575" cy="457200"/>
          </a:xfrm>
          <a:prstGeom prst="round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E5FF">
                <a:alpha val="6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80160" y="573328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Command:  /constitution &lt;principles…&gt;</a:t>
            </a:r>
            <a:endParaRPr lang="en-US" sz="1500" dirty="0"/>
          </a:p>
        </p:txBody>
      </p:sp>
      <p:pic>
        <p:nvPicPr>
          <p:cNvPr id="10" name="Image 1" descr="/mnt/data/Code-with-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078457"/>
            <a:ext cx="960120" cy="52351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5/7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011680" y="6510528"/>
            <a:ext cx="8534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Code With • Hands-On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0080" y="320040"/>
            <a:ext cx="10911535" cy="868680"/>
          </a:xfrm>
          <a:prstGeom prst="rect">
            <a:avLst/>
          </a:prstGeom>
          <a:solidFill>
            <a:srgbClr val="0A0F24">
              <a:alpha val="65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0120" y="438912"/>
            <a:ext cx="102714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 Review: Constitution Filled + Other Templates Updated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10911535" cy="4754880"/>
          </a:xfrm>
          <a:prstGeom prst="roundRect">
            <a:avLst/>
          </a:prstGeom>
          <a:solidFill>
            <a:srgbClr val="0A0F24">
              <a:alpha val="75000"/>
            </a:srgbClr>
          </a:solidFill>
          <a:ln w="12700">
            <a:solidFill>
              <a:srgbClr val="B400FF">
                <a:alpha val="2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1600200"/>
            <a:ext cx="1008857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Copilot returns a summary confirming the Constitution was created/updated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Principles reflected in output: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Clean code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Simple UX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Responsive design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Minimal dependencies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Explicit “no testing” policy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Side effect (important): it also updated other template files that previously referenced testing and removed/adjusted them to match the Constitution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Quick sanity-check the Constitution sections (examples seen):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Code quality expectations (readable/maintainable)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UX and responsive design principles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Technology stack pulled from package.json (versions included)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Workflow/governance notes (manual verification, etc.)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051560" y="5623560"/>
            <a:ext cx="10088575" cy="457200"/>
          </a:xfrm>
          <a:prstGeom prst="round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E5FF">
                <a:alpha val="6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80160" y="5733288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  package.json (stack versions)</a:t>
            </a:r>
            <a:endParaRPr lang="en-US" sz="1500" dirty="0"/>
          </a:p>
        </p:txBody>
      </p:sp>
      <p:pic>
        <p:nvPicPr>
          <p:cNvPr id="10" name="Image 1" descr="/mnt/data/Code-with-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078457"/>
            <a:ext cx="960120" cy="52351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6/7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011680" y="6510528"/>
            <a:ext cx="8534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Code With • Hands-On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0080" y="320040"/>
            <a:ext cx="10911535" cy="868680"/>
          </a:xfrm>
          <a:prstGeom prst="rect">
            <a:avLst/>
          </a:prstGeom>
          <a:solidFill>
            <a:srgbClr val="0A0F24">
              <a:alpha val="65000"/>
            </a:srgbClr>
          </a:solidFill>
          <a:ln w="1270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0120" y="438912"/>
            <a:ext cx="102714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Close the Loop: Commit + Next Lesson (Write a Feature Spec)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10911535" cy="4754880"/>
          </a:xfrm>
          <a:prstGeom prst="roundRect">
            <a:avLst/>
          </a:prstGeom>
          <a:solidFill>
            <a:srgbClr val="0A0F24">
              <a:alpha val="75000"/>
            </a:srgbClr>
          </a:solidFill>
          <a:ln w="12700">
            <a:solidFill>
              <a:srgbClr val="B400FF">
                <a:alpha val="2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1600200"/>
            <a:ext cx="1008857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Commit the changes (commit message can be generated with Copilot)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Going forward: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The Constitution acts as persistent guidance (“memory”) for the coding agent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Ensures future specs/plans/code comply with non-negotiables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 note from transcript: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Sonnet preferred here for visible step-by-step reasoning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◦ Sometimes switch to GPT-5 for task creation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D7D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Next step: create a new feature spec in the next lesson</a:t>
            </a:r>
            <a:endParaRPr lang="en-US" sz="2000" dirty="0"/>
          </a:p>
        </p:txBody>
      </p:sp>
      <p:pic>
        <p:nvPicPr>
          <p:cNvPr id="8" name="Image 1" descr="/mnt/data/Code-with-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078457"/>
            <a:ext cx="960120" cy="52351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7/7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011680" y="6510528"/>
            <a:ext cx="8534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Code With • Hands-On Intelligence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2025-12-12T20:38:41Z</dcterms:created>
  <dcterms:modified xsi:type="dcterms:W3CDTF">2025-12-12T20:38:41Z</dcterms:modified>
</cp:coreProperties>
</file>